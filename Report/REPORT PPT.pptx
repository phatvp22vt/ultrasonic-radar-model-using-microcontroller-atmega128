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9" r:id="rId12"/>
    <p:sldId id="267" r:id="rId13"/>
    <p:sldId id="268" r:id="rId14"/>
    <p:sldId id="265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15CE-6651-FB3C-8DFB-3D6901174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19AFC-A8EC-1B26-966D-A05027247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56F6D-4DBE-3DFB-2DBA-B490233F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DA501-B553-4EE0-9783-82F037C9084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3588D-BD8F-1DB2-05D9-941766AF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83440-5203-14E5-C907-0D2D2AF4D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0DC7-B024-4676-9667-307E64935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7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EAA85-B5B5-A587-606D-E94E0002B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3A9DB-2733-36A3-0DED-5186BB5E2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14FCF-F64A-7DB5-58DF-39673D98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DA501-B553-4EE0-9783-82F037C9084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E80D6-5989-8341-4B13-13B43EF10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1FDBD-BBDE-5076-1231-85A47BDA1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0DC7-B024-4676-9667-307E64935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0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86743-9747-A95B-9075-6AB734A8F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C2699-F904-5EB0-02FD-AAAE95D33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70022-F140-775E-B4EE-483F8EB0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DA501-B553-4EE0-9783-82F037C9084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A54E1-985D-1BFF-94CE-51649F3B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51EB0-D3AB-C6CF-430A-1E470E1B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0DC7-B024-4676-9667-307E64935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3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365B1-401F-4A31-A46C-A0405CA0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DE4D8-7F97-543C-99D1-1233D6E80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A5511-0D81-5BE4-20C1-BC374154C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0CFF-B9BB-51C7-4BDA-83E89D640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DA501-B553-4EE0-9783-82F037C9084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9CB0F-A6E8-7643-4385-25E7CCD0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7AFC6-B64B-A13B-E2B0-9AAC5F3C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0DC7-B024-4676-9667-307E64935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72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FD86-82D8-9762-E07F-01D682B2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A57BA-7034-D9DC-7599-44E703FF4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024F9-1BCE-8AB2-8F47-B4F18B22C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5152D0-0CC9-21A8-11E4-9F98E7D04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040C9-8F4D-B27E-6BDF-495FD9059F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35D7C4-BF85-2DCB-3526-AB18936F9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DA501-B553-4EE0-9783-82F037C9084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AE199A-9917-E221-5F62-0E0A7D4EA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18BA96-67D5-DE11-E1EC-BA9A64B0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0DC7-B024-4676-9667-307E64935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E9C82-8D0E-9B74-4B78-1959B9A46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4CAD5-3901-D783-ECDA-C54D2A7E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DA501-B553-4EE0-9783-82F037C9084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A5EC1-18AE-8048-5940-610AB23C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0B30C-A16D-0A42-8D30-78266B4C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0DC7-B024-4676-9667-307E64935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3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6839A2-7175-648D-ECC3-CFA1C3D0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DA501-B553-4EE0-9783-82F037C9084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8357AF-D489-5E2F-FDF5-2DFADBD5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E78F2-1EBE-B05F-3AF4-9E38C937A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0DC7-B024-4676-9667-307E64935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795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37D-D506-2B19-557B-7634D290B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B0F0D-58C2-5D05-59D4-DAC21200F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28A8A-5DF3-AAF4-28B7-8564726C5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B7396-974C-02FE-27E2-863A2CCD6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DA501-B553-4EE0-9783-82F037C9084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6A913-F61D-37B8-C630-EFE6EDD5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F5735-C72A-DC21-9538-2C943A54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0DC7-B024-4676-9667-307E64935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A3CDD-AD97-7E8B-391A-D1A0FF7C7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527936-1868-4BFF-28BB-9B05BB0A1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07AEA-1BAE-A132-23C5-F686A64E8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7BC4B-BCE3-CDC4-FDD4-4E1D0922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DA501-B553-4EE0-9783-82F037C9084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84655-96B8-6725-55B4-BEC1C667B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30F50-7085-0674-9C4D-863FCD650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0DC7-B024-4676-9667-307E64935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5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7A64-DDDE-2C66-05BE-2486A129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1E890-3536-4768-EFFE-5E073ABE9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71BC1-94E5-70B9-3F83-2F969891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DA501-B553-4EE0-9783-82F037C9084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F0D52-8403-6747-6C9D-87C84762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07ABE-D27B-A01C-103A-6340958A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0DC7-B024-4676-9667-307E64935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74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30EAE-901E-6DC6-574D-E32B811A93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8BD1F-3AB4-8A33-9D23-5D76F6F39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30D4B-E4FC-1C0B-C9C0-1754E87F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DA501-B553-4EE0-9783-82F037C9084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067F7-CBA4-5713-0C88-3CBED7C69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94D90-9C5B-767E-B614-C277DEF4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0DC7-B024-4676-9667-307E64935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4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09CB3E-ED99-0909-4D7C-66D805B1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41F3C-E03F-D836-2B2D-8E6DEF49B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00676-A0CB-F8CB-8C95-324C6579E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3DA501-B553-4EE0-9783-82F037C9084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CAC4E-D9A4-09EB-92BE-42C0F2062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0ED70-129F-5C8E-33D7-4643E6A5B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80DC7-B024-4676-9667-307E64935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09990-87DA-D98C-20D1-A2FBD30E7C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DỰ ÁN THIẾT KẾ HỆ THỐNG NHÚNG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DD76C-FCD4-8642-302E-2A0B23493E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7762" y="3602038"/>
            <a:ext cx="9896475" cy="165576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HỆ THỐNG CẢM BIẾN SIÊU ÂM PHÁT HIỆN VẬT THỂ VÀ ĐO KHOẢNG CÁCH QUÉT 180⁰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NHÓM 2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869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C24A-45EB-A9CA-159B-25C62F118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 dirty="0"/>
              <a:t>TỔNG QUAN HỆ THỐNG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5DBC9-B2C6-B1D7-A664-13CBAE28A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1049"/>
            <a:ext cx="10515600" cy="58578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1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Functional</a:t>
            </a:r>
            <a:r>
              <a:rPr lang="vi-VN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vi-VN" sz="1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Requirement</a:t>
            </a:r>
            <a:endParaRPr lang="en-US" sz="16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FR1: Phát hiện vật thể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FR1.1: Cảm biến siêu âm có thể phát hiện vật thể.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FR1.2: Cảm biến siêu âm có thể đo được khoảng cách đến vật thể.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FR2: Hiển thị kết quả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FR2.1: Kết quả phát hiện vật thể trên màn LCD là “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detected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FR2.2: Kết quả khoảng cách từ hệ thống đến vật thể được hiển thị trên màn LCD.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FR2.3: Kết quả phát hiện vật thể và khoảng cách được hiển thị trên màn hình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FR2.4: Nếu không có vật thể thì kết quả hiển thị sẽ là “No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FR3: Thông báo phát hiện vật thể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FR3.1: Khi phát hiện vật thể thì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sẽ kêu một tiếng “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bíp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FR4: Khối xử lý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FR4.1: Nếu hệ thống hoạt động thì vi xử lý sẽ cho đèn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báo hiệu sáng.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FR4.2: Nút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dùng để cài hệ thống hoạt động lại từ đầu.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FR5: Khối chuyển động</a:t>
            </a:r>
          </a:p>
          <a:p>
            <a:pPr marL="0" indent="0"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FR5.1: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Servo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motor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sẽ chuyển động với góc quét thuận chiều kim đồng hồ hoặc ngược chiều kim đồng hồ tối đa 180 độ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74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D99EC-6274-F2B7-027E-18749276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5228-A6D4-7489-53B8-61E49510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20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Nonfunctional</a:t>
            </a:r>
            <a:r>
              <a:rPr lang="vi-VN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vi-VN" sz="20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Requirement</a:t>
            </a:r>
            <a:endParaRPr lang="vi-VN" sz="2000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CDA30-7CF2-A91A-E1E9-02E0FBA17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1049"/>
            <a:ext cx="10515600" cy="58578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NFR1: YÊU CẦU HIỆU NĂNG (PERFORMANCE)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NFR1.1: Tốc độ quét của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motor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1 vòng trong 28 giây.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NFR1.2: Thời gian phản hồi của hệ thống kể từ lúc phát hiện vật thể nhỏ hơn 1 giây.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NFR1.3: Phạm vi phát hiện từ 2cm đến 40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NFR1.4: Độ tăng giảm góc quét là 2^o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NFR1.5: Nút nhấn có tuổi thọ là 50.000 nhấn và có chống rung bằng phần mềm.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 1.6: Thời gian gửi dữ liệu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đến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từ 4ms đến 9ms.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 1.7: Công suất tiêu thụ tối đa là 1W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NFR2: CHI PHÍ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NFR2.1: Tổng chi phí cho linh kiện hệ thống khoảng 600.000 VNĐ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NFR2.2: Chi phí cho MCU nhỏ hơn 100.000 VNĐ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NFR2.3: Chi phí in mạch nhỏ hơn 200.000 VNĐ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829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84C1-5F15-2E6D-CC4B-0C43F384E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1354-5211-34C3-104D-97521363B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 dirty="0"/>
              <a:t>TỔNG QUAN HỆ THỐNG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E368D-F3C3-DA7A-FD69-EBE51895A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81049"/>
            <a:ext cx="10658475" cy="58578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1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Nonfunctional</a:t>
            </a:r>
            <a:r>
              <a:rPr lang="vi-VN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vi-VN" sz="16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Requirement</a:t>
            </a:r>
            <a:endParaRPr lang="vi-VN" sz="1600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NFR3: KÍCH THƯỚC VẬT LÝ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NFR3.1: Toàn bộ hệ thống có thể được sử dụng trên bàn làm việc, kích cỡ 10x10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NFR4: MÔI TRƯỜNG HOẠT ĐỘNG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NFR4.1: Hệ thống có thể hoạt động trong nhiệt độ phòng, khoảng 25-35 độ C.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NFR5: KHỐI LƯỢNG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NFR5.1: Tổng khối lượng của hệ thống phải nhỏ hơn 1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kg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NFR6: ĐIỆN NĂNG TIÊU THỤ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NFR6.1: Hệ thống phải hoạt động với hai mức nguồn đầu vào: 5V DC cho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các khối và 12V DC cho mạch ổn áp.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NFR6.2: Dòng tiêu thụ tổng của nguồn 5V phải nhỏ hơn 500mA.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486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68189-C4D4-67DD-AD7B-95275F4B1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CF951-09B9-6A08-BFAC-BC018665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 dirty="0"/>
              <a:t>USE CASE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9E390-75E7-C797-F54A-F69966B04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81049"/>
            <a:ext cx="10658475" cy="58578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 – 01: Chế độ thông thường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Mô tả: Khi hệ thống được cấp nguồn thì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servo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motor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bắt đầu quay và cảm biến siêu âm sẽ bắt đầu tìm kiếm vật thể.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bước thực hiện: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được cấp nguồn.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hiển thị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và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kêu 1 tiếng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bíp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bắt đầu qua từ 0^o-180^o sau đó quay 180^o-0^o.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sẽ hiển thị 2 dòng, dòng 1 là trạng thái phát hiện vật thể, dòng 2 là góc quay hiện tại.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Nếu chưa phát hiện vật thể, LCD sẽ hiển thị dòng 1 là “No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phát hiện vật thể thì LCD hiển thị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và còi sẽ kêu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bíp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vật thể có tín hiệu ngay tầm đo tối đa và luân chuyển giữa hai trạng thái phát hiện thì sẽ là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Yêu cầu: Hệ thống được cấp nguồn.</a:t>
            </a:r>
          </a:p>
          <a:p>
            <a:pPr marL="0" indent="0">
              <a:lnSpc>
                <a:spcPct val="100000"/>
              </a:lnSpc>
              <a:buNone/>
            </a:pPr>
            <a:endParaRPr lang="vi-V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077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475FE-E2E7-511A-1080-404A368B5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657D1-C750-23EA-05B2-0686ACF9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 dirty="0"/>
              <a:t>USE CASE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43E11-7615-E9F5-9512-1AC991072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81049"/>
            <a:ext cx="10658475" cy="58578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 – 02: Chế độ tạm dừng.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Mô tả: Tạm dừng hệ thống.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bước thực hiện: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hệ thống đang quay, kết quả góc quét sẽ được trả về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giao tiếp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 hiển thị bằng dạng hình ảnh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radar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thông qua phần mềm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Trên phần mềm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sẽ có giao diện 3 nút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 Nhấn nút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một lần thì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servo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motor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tạm dừng, LCD hiển thị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nhấn nút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thêm lần nữa để hệ thống tiếp tục hoạt động.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Yêu cầu: Nhấn nút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trên giao diện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vi-V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560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1E420-C3E0-62DA-880D-2B50C5E46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90C9-1006-180B-AC76-1CAD77D5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 dirty="0"/>
              <a:t>USE CASE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DDFF6-3AC9-42EA-FFD8-BE5FB2EC1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81049"/>
            <a:ext cx="10658475" cy="58578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 – 03: Chế độ thay đổi chiều quay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Mô tả: Hệ thống thay đổi chiều quét vật thể.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bước thực hiện: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Nhấn nút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để hệ thống tạm dừng.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Nhấn nút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trên giao diện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để vào giao diện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setting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LCD hiển thị dòng 1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với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chiều quay hiện tại là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Fwd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hoặc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Rvs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tương ứng cùng chiều kìm đồng hồ hoặc ngược chiều kim đồng hồ. Dòng 2 hiển thị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với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chiều người dùng mong muốn.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Nhấn nút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trên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để chuyển đổi hai trạng thái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Fwd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hoặc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Rvs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trên dòng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của LCD.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Nhấn nút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để xác nhận chiều quay mong muốn, LCD sẽ hiện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Save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OK!” và sau đó quay về trạng thái tạm dừng với LCD hiển thị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Nhấn nút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để hệ thống quay theo chiều vừa được thiết lập.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Yêu cầu: Nhấn nút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“</a:t>
            </a:r>
            <a:r>
              <a:rPr lang="vi-V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1914262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287CF-DB4F-0E7A-B582-5DABE3392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2A9E-2D7D-011F-C4C6-6EEA227B0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/>
              <a:t>BLOCK DIAGRAM</a:t>
            </a:r>
            <a:endParaRPr lang="en-US" sz="3200" dirty="0"/>
          </a:p>
        </p:txBody>
      </p:sp>
      <p:pic>
        <p:nvPicPr>
          <p:cNvPr id="6" name="Content Placeholder 5" descr="A computer screen shot of a circuit diagram&#10;&#10;AI-generated content may be incorrect.">
            <a:extLst>
              <a:ext uri="{FF2B5EF4-FFF2-40B4-BE49-F238E27FC236}">
                <a16:creationId xmlns:a16="http://schemas.microsoft.com/office/drawing/2014/main" id="{2559842B-3455-8C09-186A-230BBD053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395" y="781050"/>
            <a:ext cx="6828085" cy="585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3911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41581-930C-B9DA-B2E3-E0478A80A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92B7D-F7B5-5453-EB5D-023D3CAA2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 dirty="0"/>
              <a:t>KHỐI NGUỒN</a:t>
            </a:r>
            <a:endParaRPr lang="en-US" sz="3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F30CCB4-EE74-276C-13D6-25F41E76C148}"/>
              </a:ext>
            </a:extLst>
          </p:cNvPr>
          <p:cNvSpPr txBox="1">
            <a:spLocks/>
          </p:cNvSpPr>
          <p:nvPr/>
        </p:nvSpPr>
        <p:spPr>
          <a:xfrm>
            <a:off x="3914775" y="6076950"/>
            <a:ext cx="4972050" cy="762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3200" dirty="0" err="1"/>
              <a:t>Schematic</a:t>
            </a:r>
            <a:endParaRPr lang="en-US" sz="3200" dirty="0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ABE1B881-2339-D44B-19E9-E18BB7CDB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14150" y="781050"/>
            <a:ext cx="9563700" cy="5410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9871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79177-9596-3361-2475-743B16FF2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0CCB-7954-7336-72A9-7BA9CDB45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 dirty="0"/>
              <a:t>KHỐI HIỂN THỊ</a:t>
            </a:r>
            <a:endParaRPr lang="en-US" sz="3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5CA340-50FF-5E5D-EF78-7F045C77A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32858" y="781051"/>
            <a:ext cx="8526284" cy="53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6E5DA67-1DE5-F44B-D3E9-2425691D50E3}"/>
              </a:ext>
            </a:extLst>
          </p:cNvPr>
          <p:cNvSpPr txBox="1">
            <a:spLocks/>
          </p:cNvSpPr>
          <p:nvPr/>
        </p:nvSpPr>
        <p:spPr>
          <a:xfrm>
            <a:off x="3609975" y="6010274"/>
            <a:ext cx="4972050" cy="762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3200" dirty="0" err="1"/>
              <a:t>Schematic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54299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61F-912F-687D-36BB-FAB007782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E0303-8003-173D-B5D0-419DA5BD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 dirty="0"/>
              <a:t>KHỐI VI ĐIỀU KHIỂN</a:t>
            </a:r>
            <a:endParaRPr lang="en-US" sz="3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E541F9-10E0-CEF6-1B83-5D41A5B47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32858" y="781051"/>
            <a:ext cx="8526284" cy="53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BA0555E-75FB-2B5A-223F-FBEF3CB3B253}"/>
              </a:ext>
            </a:extLst>
          </p:cNvPr>
          <p:cNvSpPr txBox="1">
            <a:spLocks/>
          </p:cNvSpPr>
          <p:nvPr/>
        </p:nvSpPr>
        <p:spPr>
          <a:xfrm>
            <a:off x="3609975" y="6010274"/>
            <a:ext cx="4972050" cy="762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3200" dirty="0" err="1"/>
              <a:t>Schematic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75097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99D7E-B387-68DC-B28B-50392D947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2DD6-06A9-43FA-121C-E627FA964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 dirty="0"/>
              <a:t>KHỐI DI CHUYỂN</a:t>
            </a:r>
            <a:endParaRPr lang="en-US" sz="3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35E20D-77C5-1190-5233-1DF5CC079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72923" y="781050"/>
            <a:ext cx="6537823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85125CE-752D-8DC7-DCB3-223A78C03EDB}"/>
              </a:ext>
            </a:extLst>
          </p:cNvPr>
          <p:cNvSpPr txBox="1">
            <a:spLocks/>
          </p:cNvSpPr>
          <p:nvPr/>
        </p:nvSpPr>
        <p:spPr>
          <a:xfrm>
            <a:off x="1190625" y="4914900"/>
            <a:ext cx="4972050" cy="762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3200" dirty="0" err="1"/>
              <a:t>Schematic</a:t>
            </a:r>
            <a:endParaRPr lang="en-US" sz="3200" dirty="0"/>
          </a:p>
        </p:txBody>
      </p:sp>
      <p:pic>
        <p:nvPicPr>
          <p:cNvPr id="4" name="Picture 3" descr="A diagram of a power supply&#10;&#10;AI-generated content may be incorrect.">
            <a:extLst>
              <a:ext uri="{FF2B5EF4-FFF2-40B4-BE49-F238E27FC236}">
                <a16:creationId xmlns:a16="http://schemas.microsoft.com/office/drawing/2014/main" id="{F165DA46-790D-0A71-013A-0A97C1AB6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042" y="1420493"/>
            <a:ext cx="3786413" cy="278955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D2AEDD4-698A-0C63-48B6-D63A99DCA716}"/>
              </a:ext>
            </a:extLst>
          </p:cNvPr>
          <p:cNvSpPr txBox="1">
            <a:spLocks/>
          </p:cNvSpPr>
          <p:nvPr/>
        </p:nvSpPr>
        <p:spPr>
          <a:xfrm>
            <a:off x="6772275" y="4914900"/>
            <a:ext cx="4972050" cy="762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3200" dirty="0"/>
              <a:t>Chân kết nối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34886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8DBC3-6C5B-CB3E-C937-A6DF7494D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EE0FE-E011-2CD7-D37F-6D390E1E8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 dirty="0"/>
              <a:t>KHỐI CẢM BIẾN</a:t>
            </a:r>
            <a:endParaRPr lang="en-US" sz="3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E41625-8BF9-081A-ED6B-6C42C29A3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72924" y="781050"/>
            <a:ext cx="5398632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EFDCA41-845B-DCF5-669D-44F6E9CF4FFF}"/>
              </a:ext>
            </a:extLst>
          </p:cNvPr>
          <p:cNvSpPr txBox="1">
            <a:spLocks/>
          </p:cNvSpPr>
          <p:nvPr/>
        </p:nvSpPr>
        <p:spPr>
          <a:xfrm>
            <a:off x="838200" y="4533502"/>
            <a:ext cx="4972050" cy="762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3200" dirty="0" err="1"/>
              <a:t>Schematic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060253-3A41-AFE4-67A4-4AB62184E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7243" y="1827271"/>
            <a:ext cx="5232308" cy="162990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7F7C301-99D5-360A-B4F3-E9D09C2B64DB}"/>
              </a:ext>
            </a:extLst>
          </p:cNvPr>
          <p:cNvSpPr txBox="1">
            <a:spLocks/>
          </p:cNvSpPr>
          <p:nvPr/>
        </p:nvSpPr>
        <p:spPr>
          <a:xfrm>
            <a:off x="6512017" y="4533502"/>
            <a:ext cx="5232308" cy="762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3200" dirty="0"/>
              <a:t>Hoạt động của cảm biến siêu âm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0469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4B86F-B73B-FE8B-CE71-C1A053A9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CAF6F-6CA2-2405-2289-74C8E8219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 dirty="0"/>
              <a:t>TÍNH TOÁN THÔNG SỐ</a:t>
            </a:r>
            <a:endParaRPr lang="en-US" sz="3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4462A5-90BC-6269-3098-1438549B6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9100" y="781050"/>
            <a:ext cx="8724230" cy="58578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A8D594CD-7333-81A3-114D-A843A1B14A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53550" y="1923255"/>
                <a:ext cx="2694905" cy="308689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/>
                <a:r>
                  <a:rPr lang="vi-VN" sz="2800" dirty="0"/>
                  <a:t>Dòng cung cấp toàn mạch là 59mA. Công suất toàn mạch là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vi-VN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vi-VN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vi-VN" sz="2800" i="1" dirty="0" smtClean="0">
                        <a:latin typeface="Cambria Math" panose="02040503050406030204" pitchFamily="18" charset="0"/>
                      </a:rPr>
                      <m:t> 59</m:t>
                    </m:r>
                    <m:r>
                      <a:rPr lang="vi-VN" sz="2800" i="1" dirty="0" smtClean="0">
                        <a:latin typeface="Cambria Math" panose="02040503050406030204" pitchFamily="18" charset="0"/>
                      </a:rPr>
                      <m:t>𝑚𝐴</m:t>
                    </m:r>
                    <m:r>
                      <a:rPr lang="vi-VN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vi-V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vi-V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vi-V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vi-V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A8D594CD-7333-81A3-114D-A843A1B14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550" y="1923255"/>
                <a:ext cx="2694905" cy="3086895"/>
              </a:xfrm>
              <a:prstGeom prst="rect">
                <a:avLst/>
              </a:prstGeom>
              <a:blipFill>
                <a:blip r:embed="rId3"/>
                <a:stretch>
                  <a:fillRect l="-4525" r="-4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6852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5708C-C65C-7BC3-B88D-B0369199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6E0AB-D968-DD76-5011-2114F9B2F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 dirty="0"/>
              <a:t>LAYOUT</a:t>
            </a:r>
            <a:endParaRPr lang="en-US" sz="3200" dirty="0"/>
          </a:p>
        </p:txBody>
      </p:sp>
      <p:pic>
        <p:nvPicPr>
          <p:cNvPr id="7" name="Picture 6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B257B127-DD94-F3E5-E65E-0843F5CDA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19379"/>
            <a:ext cx="6505575" cy="653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823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D7A3-518D-1D46-73CE-4CF811FEE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233D-BA5B-C6FF-4B94-F12B5CC64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4972050" cy="762795"/>
          </a:xfrm>
        </p:spPr>
        <p:txBody>
          <a:bodyPr>
            <a:normAutofit/>
          </a:bodyPr>
          <a:lstStyle/>
          <a:p>
            <a:r>
              <a:rPr lang="vi-VN" sz="3200" dirty="0"/>
              <a:t>THIẾT KẾ PHẦN MỀM</a:t>
            </a:r>
            <a:endParaRPr lang="en-US" sz="3200" dirty="0"/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DF14C731-D0C6-A457-F008-9276FF96A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7093"/>
            <a:ext cx="10734766" cy="3463882"/>
          </a:xfrm>
          <a:prstGeom prst="rect">
            <a:avLst/>
          </a:prstGeom>
        </p:spPr>
      </p:pic>
      <p:pic>
        <p:nvPicPr>
          <p:cNvPr id="8" name="Picture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A0939181-223F-F971-D29E-64E77CD17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38" y="3789296"/>
            <a:ext cx="10285462" cy="306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31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1111</Words>
  <Application>Microsoft Office PowerPoint</Application>
  <PresentationFormat>Widescreen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Times New Roman</vt:lpstr>
      <vt:lpstr>Office Theme</vt:lpstr>
      <vt:lpstr>DỰ ÁN THIẾT KẾ HỆ THỐNG NHÚNG</vt:lpstr>
      <vt:lpstr>TỔNG QUAN HỆ THỐNG</vt:lpstr>
      <vt:lpstr>Nonfunctional Requirement</vt:lpstr>
      <vt:lpstr>TỔNG QUAN HỆ THỐNG</vt:lpstr>
      <vt:lpstr>USE CASE</vt:lpstr>
      <vt:lpstr>USE CASE</vt:lpstr>
      <vt:lpstr>USE CASE</vt:lpstr>
      <vt:lpstr>BLOCK DIAGRAM</vt:lpstr>
      <vt:lpstr>KHỐI NGUỒN</vt:lpstr>
      <vt:lpstr>KHỐI HIỂN THỊ</vt:lpstr>
      <vt:lpstr>KHỐI VI ĐIỀU KHIỂN</vt:lpstr>
      <vt:lpstr>KHỐI DI CHUYỂN</vt:lpstr>
      <vt:lpstr>KHỐI CẢM BIẾN</vt:lpstr>
      <vt:lpstr>TÍNH TOÁN THÔNG SỐ</vt:lpstr>
      <vt:lpstr>LAYOUT</vt:lpstr>
      <vt:lpstr>THIẾT KẾ PHẦN MỀM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Tiến Phát Hoàng</dc:creator>
  <cp:lastModifiedBy>Tiến Phát Hoàng</cp:lastModifiedBy>
  <cp:revision>1</cp:revision>
  <dcterms:created xsi:type="dcterms:W3CDTF">2025-12-09T12:50:28Z</dcterms:created>
  <dcterms:modified xsi:type="dcterms:W3CDTF">2025-12-09T14:32:50Z</dcterms:modified>
</cp:coreProperties>
</file>